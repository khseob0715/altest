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70F82-7F2A-119F-C7A9-D53EE032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648F8B-2511-D331-7EB7-9B02A2809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911D3-5DD3-B6BD-C862-AF8E6C7B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4B036-DDB5-6D5A-6D3A-64477E4F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3481E-CCEF-7103-80D7-B1EA9725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8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E32D-7221-E74B-D164-E5514D170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94223-99AC-9F28-A9D8-EFC1C0E54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92A0B3-775F-900F-D923-39A8F0A3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553B95-E7CE-B228-338F-04C0E206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3F0DC-D9A3-C75C-56EB-0A98816B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0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1E664-0CAD-123D-68A3-C5DA6AE9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221323-0D98-C673-0EF5-DABC34E4B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F37C1B-2E3D-13E5-B84E-A6AF3FE3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E0F684-6E3C-8CBD-00E6-E1C59466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FD36B-7D86-EB06-BF78-3DC4AF67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5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90F27-FC51-F335-EF74-8F3348EC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1DDAE5-2D3E-DA3D-03F9-0739A1335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50EE8B-C393-F4EE-8B02-351F66529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18978-1E6C-6D88-8525-44CC010B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A79B1D-BA8E-BC41-6461-B7CBC5414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A824EF-38D3-4C2D-7EB6-5E6DB36E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45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A7C87-A00C-A505-582D-DCF74A01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4564BC-8F82-E416-A0B5-52D5664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62B112-1E2A-E34A-FB28-D341EA000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D93356-3405-1897-8437-73B991872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6711B5-C392-C31C-CA44-817070DF0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8E0F48-4E02-CCF3-F3B7-36C94BB0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528AE3-5F40-49F0-F26A-0627DF44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01A6F9-FCD8-C20D-6B24-443092B99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39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F0303-A39D-61E8-5B28-D1A9F7C0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30564-6FF4-8F58-FE31-76B93912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21F0A6-070C-2838-4A07-0B3AC00F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F3C683-BF1A-39CB-DA40-C92DB9F0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62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22A276-11D0-3234-5860-2CFE72EE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E4670A-669A-9941-0285-DDC85135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5485AF-E97E-98E9-7C22-4F98241F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75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C5A3F-B38D-B380-25AE-DA12BAC5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531F8F-63CD-894C-57DC-4ADB0A7A6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36FE02-C008-D473-4535-BED02130B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2B0878-B356-676D-61E2-74359AE98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868C2-6C1E-743F-9577-9511E9EF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3EE515-693F-F1DD-6C7E-BF244E0D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14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C85E-B7C6-4700-6BF8-A69DF8A5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FED911-9A14-54AE-3090-0858D5DDC8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BCFE21-4046-75B6-3DEF-0836F040D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B1550-B9DD-C497-9FCC-83AD609A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A60EFF-4C89-EE6C-15EB-83915208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7B1739-F56B-42C6-8C3B-005DAAB6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0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2D2FF-5D1C-C532-98BD-E1C4EAD0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C2E840-A8F9-06F8-4D8B-AA755D166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43B5E-BB7C-7CD3-790D-7B859FDC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1A7FD-CC9C-95D5-86D6-F6EE7E02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56FBA-BC69-0367-5F24-EBCCF74C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05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31F707-6ED7-36A6-73C6-FE2CBD258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400A67-8756-097E-6A01-442063C74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9B7395-293F-5652-D21B-C02B6711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A0F529-E2C4-C2A5-C840-1B037AB1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70C89-3A66-4398-4962-2E4E0348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61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FC9F9C6-0746-221A-04CD-0AD09554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DF52D3-B7BC-79BD-3A38-F8C0B01F2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E86A12-9B53-237A-D4AC-BB252460B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239BA-A07E-4152-964D-2266A0703F88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6DEAAF-1E21-BABA-63C2-DFA2393FD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E8F31-3165-F506-E5A0-0F8F0B6B7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C8CDF-1E1E-4774-828A-A57AACA840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40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6C51F-B358-9C2A-357F-41845229FA6A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정렬 코드와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B0B5F-C9A0-E843-AAFF-AE31A54FC90A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14FEB-A744-B08A-CA83-726A6115B6A2}"/>
              </a:ext>
            </a:extLst>
          </p:cNvPr>
          <p:cNvSpPr txBox="1"/>
          <p:nvPr/>
        </p:nvSpPr>
        <p:spPr>
          <a:xfrm>
            <a:off x="711200" y="1968500"/>
            <a:ext cx="10668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2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학생용 구현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80CDD-1559-BBEA-123B-F900820951C9}"/>
              </a:ext>
            </a:extLst>
          </p:cNvPr>
          <p:cNvSpPr txBox="1"/>
          <p:nvPr/>
        </p:nvSpPr>
        <p:spPr>
          <a:xfrm>
            <a:off x="711200" y="3302000"/>
            <a:ext cx="10668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알고리즘은 직접 구현하고</a:t>
            </a:r>
            <a:r>
              <a:rPr lang="en-US" altLang="ko-KR" sz="26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steps</a:t>
            </a:r>
            <a:r>
              <a:rPr lang="ko-KR" altLang="en-US" sz="26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비교와 배열 변경을 기록합니다</a:t>
            </a:r>
            <a:r>
              <a:rPr lang="en-US" altLang="ko-KR" sz="26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600">
              <a:solidFill>
                <a:srgbClr val="18273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D22D7F-B224-43F2-C31A-3A65A82EEB61}"/>
              </a:ext>
            </a:extLst>
          </p:cNvPr>
          <p:cNvSpPr txBox="1"/>
          <p:nvPr/>
        </p:nvSpPr>
        <p:spPr>
          <a:xfrm>
            <a:off x="711200" y="5334000"/>
            <a:ext cx="1066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Insertion / Merge / Quick / Heap Sort</a:t>
            </a:r>
            <a:endParaRPr lang="ko-KR" altLang="en-US" sz="2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11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1989EA-355E-3D07-F298-567504E9116D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 형식과 정렬 기준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3C706C-3DE1-E7A2-9418-01F53E2BD50E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047DB-347F-8CD3-DE31-96062BF6F6DF}"/>
              </a:ext>
            </a:extLst>
          </p:cNvPr>
          <p:cNvSpPr txBox="1"/>
          <p:nvPr/>
        </p:nvSpPr>
        <p:spPr>
          <a:xfrm>
            <a:off x="711200" y="1701800"/>
            <a:ext cx="10795000" cy="20467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>
                <a:solidFill>
                  <a:srgbClr val="1F5DA8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module.exports = {
    sort(items, steps) {
        const result = items.map(item =&gt; ({ ...item }));
        // </a:t>
            </a:r>
            <a:r>
              <a:rPr lang="ko-KR" altLang="en-US" sz="1900">
                <a:solidFill>
                  <a:srgbClr val="1F5DA8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정렬 알고리즘 구현
        </a:t>
            </a:r>
            <a:r>
              <a:rPr lang="en-US" altLang="ko-KR" sz="1900">
                <a:solidFill>
                  <a:srgbClr val="1F5DA8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return result;
    }
};</a:t>
            </a:r>
            <a:endParaRPr lang="ko-KR" altLang="en-US" sz="1900">
              <a:solidFill>
                <a:srgbClr val="1F5DA8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F0C69-44A5-246C-87A7-181B06527823}"/>
              </a:ext>
            </a:extLst>
          </p:cNvPr>
          <p:cNvSpPr txBox="1"/>
          <p:nvPr/>
        </p:nvSpPr>
        <p:spPr>
          <a:xfrm>
            <a:off x="711200" y="4889500"/>
            <a:ext cx="10795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객체의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priority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내림차순 정렬
객체 전체를 이동하고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정렬된 배열을 반환</a:t>
            </a:r>
          </a:p>
        </p:txBody>
      </p:sp>
    </p:spTree>
    <p:extLst>
      <p:ext uri="{BB962C8B-B14F-4D97-AF65-F5344CB8AC3E}">
        <p14:creationId xmlns:p14="http://schemas.microsoft.com/office/powerpoint/2010/main" val="126559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3B59C5-3606-CA4E-35CA-A79428DE7D6E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시각화에 사용하는 네 함수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52553-15FB-6839-213D-593DEF724F09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C6A6F6-A9A5-C9B9-FE55-98B66A355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534853"/>
              </p:ext>
            </p:extLst>
          </p:nvPr>
        </p:nvGraphicFramePr>
        <p:xfrm>
          <a:off x="711200" y="1714500"/>
          <a:ext cx="107696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15123478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869483219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942949694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함수</a:t>
                      </a:r>
                    </a:p>
                  </a:txBody>
                  <a:tcPr>
                    <a:solidFill>
                      <a:srgbClr val="1F5DA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역할</a:t>
                      </a:r>
                    </a:p>
                  </a:txBody>
                  <a:tcPr>
                    <a:solidFill>
                      <a:srgbClr val="1F5DA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배열 변경</a:t>
                      </a:r>
                    </a:p>
                  </a:txBody>
                  <a:tcPr>
                    <a:solidFill>
                      <a:srgbClr val="1F5D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8162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compare(result, i, j)</a:t>
                      </a:r>
                      <a:endParaRPr lang="ko-KR" altLang="en-US" sz="1800">
                        <a:solidFill>
                          <a:srgbClr val="18273C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두 위치의 비교 표시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없음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36209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swap(result, i, j)</a:t>
                      </a:r>
                      <a:endParaRPr lang="ko-KR" altLang="en-US" sz="1800">
                        <a:solidFill>
                          <a:srgbClr val="18273C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두 항목 교환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있음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94240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write(result, i, value)</a:t>
                      </a:r>
                      <a:endParaRPr lang="ko-KR" altLang="en-US" sz="1800">
                        <a:solidFill>
                          <a:srgbClr val="18273C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한 위치에 객체 대입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있음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8788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fixed(result, i)</a:t>
                      </a:r>
                      <a:endParaRPr lang="ko-KR" altLang="en-US" sz="1800">
                        <a:solidFill>
                          <a:srgbClr val="18273C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최종 위치 확정 표시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solidFill>
                            <a:srgbClr val="18273C"/>
                          </a:solidFill>
                          <a:latin typeface="맑은 고딕" panose="020B0503020000020004" pitchFamily="50" charset="-127"/>
                        </a:rPr>
                        <a:t>없음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1749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DF35C6-F473-8EB2-3889-7CECF53CAC48}"/>
              </a:ext>
            </a:extLst>
          </p:cNvPr>
          <p:cNvSpPr txBox="1"/>
          <p:nvPr/>
        </p:nvSpPr>
        <p:spPr>
          <a:xfrm>
            <a:off x="711200" y="5372100"/>
            <a:ext cx="1076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모두 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steps.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함수명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(...)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호출합니다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i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배열 인덱스입니다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53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8F8EC-6843-B33C-79B8-D97F07E37FE1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compare</a:t>
            </a:r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fixed</a:t>
            </a:r>
            <a:endParaRPr lang="ko-KR" altLang="en-US" sz="3200" b="1">
              <a:solidFill>
                <a:srgbClr val="18273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F7551-BC5B-8280-7D0C-A83557B5D7A0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7EFAB-711D-B449-3F6E-3F7DAF1F9B3F}"/>
              </a:ext>
            </a:extLst>
          </p:cNvPr>
          <p:cNvSpPr txBox="1"/>
          <p:nvPr/>
        </p:nvSpPr>
        <p:spPr>
          <a:xfrm>
            <a:off x="711200" y="1676400"/>
            <a:ext cx="1076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compare</a:t>
            </a:r>
            <a:r>
              <a:rPr lang="ko-KR" altLang="en-US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비교 장면을 기록합니다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F7A47-0296-A615-5E8A-CF288B595A48}"/>
              </a:ext>
            </a:extLst>
          </p:cNvPr>
          <p:cNvSpPr txBox="1"/>
          <p:nvPr/>
        </p:nvSpPr>
        <p:spPr>
          <a:xfrm>
            <a:off x="711200" y="2413000"/>
            <a:ext cx="107696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1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steps.compare(result, i, j);
if (result[i].priority &lt; result[j].priority) { ... }</a:t>
            </a:r>
            <a:endParaRPr lang="ko-KR" altLang="en-US" sz="2100">
              <a:solidFill>
                <a:srgbClr val="18273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221465-8E2F-10FC-BEF5-AF717E79D812}"/>
              </a:ext>
            </a:extLst>
          </p:cNvPr>
          <p:cNvSpPr txBox="1"/>
          <p:nvPr/>
        </p:nvSpPr>
        <p:spPr>
          <a:xfrm>
            <a:off x="711200" y="3657600"/>
            <a:ext cx="1076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대소 비교는 </a:t>
            </a:r>
            <a:r>
              <a:rPr lang="en-US" altLang="ko-KR" sz="2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 </a:t>
            </a:r>
            <a:r>
              <a:rPr lang="ko-KR" altLang="en-US" sz="2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문으로 직접 작성합니다</a:t>
            </a:r>
            <a:r>
              <a:rPr lang="en-US" altLang="ko-KR" sz="2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C3C2C-120E-20C4-20D4-4C70D2BE3A44}"/>
              </a:ext>
            </a:extLst>
          </p:cNvPr>
          <p:cNvSpPr txBox="1"/>
          <p:nvPr/>
        </p:nvSpPr>
        <p:spPr>
          <a:xfrm>
            <a:off x="711200" y="4635500"/>
            <a:ext cx="1076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fixed</a:t>
            </a:r>
            <a:r>
              <a:rPr lang="ko-KR" altLang="en-US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더 이상 이동하지 않는 위치에 사용합니다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F3A7B-0AE1-13F0-B5FD-D611B7ECC1D4}"/>
              </a:ext>
            </a:extLst>
          </p:cNvPr>
          <p:cNvSpPr txBox="1"/>
          <p:nvPr/>
        </p:nvSpPr>
        <p:spPr>
          <a:xfrm>
            <a:off x="711200" y="5410200"/>
            <a:ext cx="1076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삽입 정렬의 정렬된 앞부분은 이후에도 바뀔 수 있습니다</a:t>
            </a:r>
            <a:r>
              <a:rPr lang="en-US" altLang="ko-KR" sz="21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100">
              <a:solidFill>
                <a:srgbClr val="18273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39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51030-0EBA-B3BA-22DA-4A783B6C36E6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</a:t>
            </a:r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</a:t>
            </a:r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차이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E2643-EB75-E3A4-5F36-DEF50C6CB480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DBBBE-0BDF-5039-76E9-EB33F919EB3A}"/>
              </a:ext>
            </a:extLst>
          </p:cNvPr>
          <p:cNvSpPr txBox="1"/>
          <p:nvPr/>
        </p:nvSpPr>
        <p:spPr>
          <a:xfrm>
            <a:off x="711200" y="1651000"/>
            <a:ext cx="1076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항목의 자리 교환</a:t>
            </a:r>
            <a:r>
              <a:rPr lang="en-US" altLang="ko-KR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swap</a:t>
            </a:r>
            <a:endParaRPr lang="ko-KR" altLang="en-US" sz="2500" b="1">
              <a:solidFill>
                <a:srgbClr val="1F5D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10B6E-24E1-F172-AA30-E195B067B48E}"/>
              </a:ext>
            </a:extLst>
          </p:cNvPr>
          <p:cNvSpPr txBox="1"/>
          <p:nvPr/>
        </p:nvSpPr>
        <p:spPr>
          <a:xfrm>
            <a:off x="711200" y="2349500"/>
            <a:ext cx="10769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// [A, B]</a:t>
            </a:r>
            <a:r>
              <a:rPr lang="ko-KR" altLang="en-US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를 </a:t>
            </a:r>
            <a:r>
              <a:rPr lang="en-US" altLang="ko-KR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[B, A]</a:t>
            </a:r>
            <a:r>
              <a:rPr lang="ko-KR" altLang="en-US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로 변경
</a:t>
            </a:r>
            <a:r>
              <a:rPr lang="en-US" altLang="ko-KR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steps.swap(result, 0, 1);</a:t>
            </a:r>
            <a:endParaRPr lang="ko-KR" altLang="en-US" sz="2300">
              <a:solidFill>
                <a:srgbClr val="18273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E56B4-4D87-9C0D-EE9B-6F68A23550D1}"/>
              </a:ext>
            </a:extLst>
          </p:cNvPr>
          <p:cNvSpPr txBox="1"/>
          <p:nvPr/>
        </p:nvSpPr>
        <p:spPr>
          <a:xfrm>
            <a:off x="711200" y="3759200"/>
            <a:ext cx="1076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위치에 객체 대입</a:t>
            </a:r>
            <a:r>
              <a:rPr lang="en-US" altLang="ko-KR" sz="25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write</a:t>
            </a:r>
            <a:endParaRPr lang="ko-KR" altLang="en-US" sz="2500" b="1">
              <a:solidFill>
                <a:srgbClr val="1F5D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BB61D-DA38-E5BF-CC6D-4998AB2C8456}"/>
              </a:ext>
            </a:extLst>
          </p:cNvPr>
          <p:cNvSpPr txBox="1"/>
          <p:nvPr/>
        </p:nvSpPr>
        <p:spPr>
          <a:xfrm>
            <a:off x="711200" y="4457700"/>
            <a:ext cx="10769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// result[index] = merged[i]</a:t>
            </a:r>
            <a:r>
              <a:rPr lang="ko-KR" altLang="en-US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를 수행
</a:t>
            </a:r>
            <a:r>
              <a:rPr lang="en-US" altLang="ko-KR" sz="2300">
                <a:solidFill>
                  <a:srgbClr val="18273C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steps.write(result, index, merged[i]);</a:t>
            </a:r>
            <a:endParaRPr lang="ko-KR" altLang="en-US" sz="2300">
              <a:solidFill>
                <a:srgbClr val="18273C"/>
              </a:solidFill>
              <a:latin typeface="Consolas" panose="020B0609020204030204" pitchFamily="49" charset="0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0E76A-649D-4871-26FB-CCA275BA652C}"/>
              </a:ext>
            </a:extLst>
          </p:cNvPr>
          <p:cNvSpPr txBox="1"/>
          <p:nvPr/>
        </p:nvSpPr>
        <p:spPr>
          <a:xfrm>
            <a:off x="711200" y="5791200"/>
            <a:ext cx="10769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함수가 배열을 직접 변경합니다</a:t>
            </a:r>
            <a:r>
              <a:rPr lang="en-US" altLang="ko-KR" sz="19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9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변경을 따로 반복하지 마세요</a:t>
            </a:r>
            <a:r>
              <a:rPr lang="en-US" altLang="ko-KR" sz="19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47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C7B5F7-9D81-6DE3-E8BD-24F098F9FD38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정렬별 사용 예시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B835E-5805-A908-5B20-B94A8104555C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1E068A-BD53-2178-67FE-9F9DCDCAC988}"/>
              </a:ext>
            </a:extLst>
          </p:cNvPr>
          <p:cNvSpPr txBox="1"/>
          <p:nvPr/>
        </p:nvSpPr>
        <p:spPr>
          <a:xfrm>
            <a:off x="711200" y="1714500"/>
            <a:ext cx="10769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Insertion Sort
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인접 교환은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swap, 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밀어쓰기는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</a:t>
            </a:r>
            <a:endParaRPr lang="ko-KR" altLang="en-US" sz="2300">
              <a:solidFill>
                <a:srgbClr val="18273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71709-5B5D-005A-495E-84771224CAED}"/>
              </a:ext>
            </a:extLst>
          </p:cNvPr>
          <p:cNvSpPr txBox="1"/>
          <p:nvPr/>
        </p:nvSpPr>
        <p:spPr>
          <a:xfrm>
            <a:off x="711200" y="2857500"/>
            <a:ext cx="10769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Merge Sort
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임시 배열에서 병합한 결과를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write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기록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C8A526-2F19-9779-BE11-F8E87E9EE40A}"/>
              </a:ext>
            </a:extLst>
          </p:cNvPr>
          <p:cNvSpPr txBox="1"/>
          <p:nvPr/>
        </p:nvSpPr>
        <p:spPr>
          <a:xfrm>
            <a:off x="711200" y="4000500"/>
            <a:ext cx="107696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Quick Sort / Heap Sort
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비교는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compare, </a:t>
            </a:r>
            <a:r>
              <a:rPr lang="ko-KR" altLang="en-US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교환은 </a:t>
            </a:r>
            <a:r>
              <a:rPr lang="en-US" altLang="ko-KR" sz="23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</a:t>
            </a:r>
            <a:endParaRPr lang="ko-KR" altLang="en-US" sz="2300">
              <a:solidFill>
                <a:srgbClr val="18273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249FE-9A60-5E59-F09E-3779C803E56B}"/>
              </a:ext>
            </a:extLst>
          </p:cNvPr>
          <p:cNvSpPr txBox="1"/>
          <p:nvPr/>
        </p:nvSpPr>
        <p:spPr>
          <a:xfrm>
            <a:off x="711200" y="5524500"/>
            <a:ext cx="1076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함수는 알고리즘 이름이 아니라 실제 수행하는 연산에 맞춰 선택합니다</a:t>
            </a:r>
            <a:r>
              <a:rPr lang="en-US" altLang="ko-KR" sz="20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 b="1">
              <a:solidFill>
                <a:srgbClr val="1F5D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75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AE6CA-82C9-1AC0-D7D5-B07708C2A1A0}"/>
              </a:ext>
            </a:extLst>
          </p:cNvPr>
          <p:cNvSpPr txBox="1"/>
          <p:nvPr/>
        </p:nvSpPr>
        <p:spPr>
          <a:xfrm>
            <a:off x="711200" y="5334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200" b="1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업로드와 결과 확인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BEDFA-DE77-CB98-5422-C1CFAD6A5D68}"/>
              </a:ext>
            </a:extLst>
          </p:cNvPr>
          <p:cNvSpPr txBox="1"/>
          <p:nvPr/>
        </p:nvSpPr>
        <p:spPr>
          <a:xfrm>
            <a:off x="10922000" y="6324600"/>
            <a:ext cx="55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11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C9761-5BF5-C496-45D3-C1F7F27438AD}"/>
              </a:ext>
            </a:extLst>
          </p:cNvPr>
          <p:cNvSpPr txBox="1"/>
          <p:nvPr/>
        </p:nvSpPr>
        <p:spPr>
          <a:xfrm>
            <a:off x="711200" y="1701800"/>
            <a:ext cx="107696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.js </a:t>
            </a:r>
            <a:r>
              <a:rPr lang="ko-KR" altLang="en-US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파일을 </a:t>
            </a:r>
            <a:r>
              <a:rPr lang="en-US" altLang="ko-KR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Choose Sort file</a:t>
            </a:r>
            <a:r>
              <a:rPr lang="ko-KR" altLang="en-US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업로드
</a:t>
            </a:r>
            <a:r>
              <a:rPr lang="en-US" altLang="ko-KR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All Start </a:t>
            </a:r>
            <a:r>
              <a:rPr lang="ko-KR" altLang="en-US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또는 </a:t>
            </a:r>
            <a:r>
              <a:rPr lang="en-US" altLang="ko-KR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</a:t>
            </a:r>
            <a:r>
              <a:rPr lang="ko-KR" altLang="en-US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과정 확인
</a:t>
            </a:r>
            <a:r>
              <a:rPr lang="en-US" altLang="ko-KR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priority </a:t>
            </a:r>
            <a:r>
              <a:rPr lang="ko-KR" altLang="en-US" sz="2500">
                <a:solidFill>
                  <a:srgbClr val="18273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내림차순과 항목 보존 여부 확인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75405-5AA7-D01B-B46D-B3A1D6346758}"/>
              </a:ext>
            </a:extLst>
          </p:cNvPr>
          <p:cNvSpPr txBox="1"/>
          <p:nvPr/>
        </p:nvSpPr>
        <p:spPr>
          <a:xfrm>
            <a:off x="711200" y="4064000"/>
            <a:ext cx="1076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1F5D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화면의 범위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7D8D0-31D0-9E46-B26E-7F2B7BE13AA6}"/>
              </a:ext>
            </a:extLst>
          </p:cNvPr>
          <p:cNvSpPr txBox="1"/>
          <p:nvPr/>
        </p:nvSpPr>
        <p:spPr>
          <a:xfrm>
            <a:off x="711200" y="4749800"/>
            <a:ext cx="107696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steps 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호출이 없으면 중간 과정을 표시하지 않습니다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write 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 같은 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겹치면 화면이 부정확할 수 있습니다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 성공은 정렬 정답 판정을 의미하지 않습니다</a:t>
            </a:r>
            <a:r>
              <a:rPr lang="en-US" altLang="ko-KR" sz="2000">
                <a:solidFill>
                  <a:srgbClr val="515E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515E6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995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사용자 지정</PresentationFormat>
  <Paragraphs>52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hanseob kim</dc:creator>
  <cp:lastModifiedBy>hanseob kim</cp:lastModifiedBy>
  <cp:revision>1</cp:revision>
  <dcterms:created xsi:type="dcterms:W3CDTF">2026-10-19T03:48:20Z</dcterms:created>
  <dcterms:modified xsi:type="dcterms:W3CDTF">2026-10-19T03:48:20Z</dcterms:modified>
</cp:coreProperties>
</file>